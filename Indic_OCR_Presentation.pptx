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3200">
                <a:solidFill>
                  <a:srgbClr val="003366"/>
                </a:solidFill>
              </a:defRPr>
            </a:pPr>
            <a:r>
              <a:t>MULTI-LANGUAGE OCR SYSTEM FOR</a:t>
            </a:r>
          </a:p>
          <a:p>
            <a:r>
              <a:t>INDIAN REGIONAL SCRIPTS (Indic-OCR)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6576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/>
            </a:pPr>
            <a:r>
              <a:t>21CSA697A – Minor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5720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/>
            </a:pPr>
            <a:r>
              <a:t>February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b="1" sz="2800">
                <a:solidFill>
                  <a:srgbClr val="003366"/>
                </a:solidFill>
              </a:defRPr>
            </a:pPr>
            <a:r>
              <a:t>Project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1371600"/>
            <a:ext cx="6400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b="1" sz="1600"/>
            </a:pPr>
            <a:r>
              <a:t>Project Title:</a:t>
            </a:r>
            <a:r>
              <a:rPr b="0"/>
              <a:t> Multi-Language OCR System for Indian Regional Scripts</a:t>
            </a:r>
          </a:p>
          <a:p>
            <a:pPr>
              <a:spcAft>
                <a:spcPts val="600"/>
              </a:spcAft>
              <a:defRPr b="1" sz="1600"/>
            </a:pPr>
            <a:r>
              <a:t>Student Name:</a:t>
            </a:r>
            <a:r>
              <a:rPr b="0"/>
              <a:t> Dhananjayan H</a:t>
            </a:r>
          </a:p>
          <a:p>
            <a:pPr>
              <a:spcAft>
                <a:spcPts val="600"/>
              </a:spcAft>
              <a:defRPr b="1" sz="1600"/>
            </a:pPr>
            <a:r>
              <a:t>Register Number:</a:t>
            </a:r>
            <a:r>
              <a:rPr b="0"/>
              <a:t> AA.SC.P2MCA24070151</a:t>
            </a:r>
          </a:p>
          <a:p>
            <a:pPr>
              <a:spcAft>
                <a:spcPts val="600"/>
              </a:spcAft>
              <a:defRPr b="1" sz="1600"/>
            </a:pPr>
            <a:r>
              <a:t>Program:</a:t>
            </a:r>
            <a:r>
              <a:rPr b="0"/>
              <a:t> MCA (Master of Computer Applications)</a:t>
            </a:r>
          </a:p>
          <a:p>
            <a:pPr>
              <a:spcAft>
                <a:spcPts val="600"/>
              </a:spcAft>
              <a:defRPr b="1" sz="1600"/>
            </a:pPr>
            <a:r>
              <a:t>Semester:</a:t>
            </a:r>
            <a:r>
              <a:rPr b="0"/>
              <a:t> II Semester</a:t>
            </a:r>
          </a:p>
          <a:p>
            <a:pPr>
              <a:spcAft>
                <a:spcPts val="600"/>
              </a:spcAft>
              <a:defRPr b="1" sz="1600"/>
            </a:pPr>
            <a:r>
              <a:t>Course Code:</a:t>
            </a:r>
            <a:r>
              <a:rPr b="0"/>
              <a:t> 21CSA697A – Minor Project</a:t>
            </a:r>
          </a:p>
          <a:p>
            <a:pPr>
              <a:spcAft>
                <a:spcPts val="600"/>
              </a:spcAft>
              <a:defRPr b="1" sz="1600"/>
            </a:pPr>
            <a:r>
              <a:t>Department:</a:t>
            </a:r>
            <a:r>
              <a:rPr b="0"/>
              <a:t> Computer Science</a:t>
            </a:r>
          </a:p>
          <a:p>
            <a:pPr>
              <a:spcAft>
                <a:spcPts val="600"/>
              </a:spcAft>
              <a:defRPr b="1" sz="1600"/>
            </a:pPr>
            <a:r>
              <a:t>Institution:</a:t>
            </a:r>
            <a:r>
              <a:rPr b="0"/>
              <a:t> Amrita Vishwa Vidyapeetham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b="1" sz="2800">
                <a:solidFill>
                  <a:srgbClr val="003366"/>
                </a:solidFill>
              </a:defRPr>
            </a:pPr>
            <a:r>
              <a:t>Introduction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400"/>
            </a:pPr>
            <a:r>
              <a:t>Domain Overview: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/>
            </a:pPr>
            <a:r>
              <a:t>• Optical Character Recognition (OCR) for Indian Regional Languages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/>
            </a:pPr>
            <a:r>
              <a:t>• Conversion of handwritten/printed text to digital Unicode format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/>
            </a:pPr>
            <a:r>
              <a:t>• Focus on multilingual support for India's linguistic diversity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/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400"/>
            </a:pPr>
            <a:r>
              <a:t>Research Context and Motivation: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/>
            </a:pPr>
            <a:r>
              <a:t>• India has 22 official languages with diverse scripts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/>
            </a:pPr>
            <a:r>
              <a:t>• Limited OCR solutions support Indian regional languages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/>
            </a:pPr>
            <a:r>
              <a:t>• Growing need for digitization of historical documents and handwritten notes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/>
            </a:pPr>
            <a:r>
              <a:t>• Accessibility enhancement for visually impaired users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/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400"/>
            </a:pPr>
            <a:r>
              <a:t>Practical and Academic Relevance: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/>
            </a:pPr>
            <a:r>
              <a:t>• Enables digitization of government documents and academic materials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/>
            </a:pPr>
            <a:r>
              <a:t>• Facilitates preservation of cultural and historical records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/>
            </a:pPr>
            <a:r>
              <a:t>• Application in education, government, and accessibility domains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/>
            </a:pPr>
            <a:r>
              <a:t>• Advances research in multilingual OCR systems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b="1" sz="2800">
                <a:solidFill>
                  <a:srgbClr val="003366"/>
                </a:solidFill>
              </a:defRPr>
            </a:pPr>
            <a:r>
              <a:t>Problem Statement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400"/>
            </a:pPr>
            <a:r>
              <a:t>Clearly Defined Problem: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/>
            </a:pPr>
            <a:r>
              <a:t>• Lack of robust OCR solutions for Indian regional scripts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/>
            </a:pPr>
            <a:r>
              <a:t>• Difficulty in digitizing handwritten and printed documents in Hindi, Tamil, Malayalam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/>
            </a:pPr>
            <a:r>
              <a:t>• Manual transcription is time-consuming and error-prone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/>
            </a:pPr>
            <a:r>
              <a:t>• Need for automated script detection and text extraction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/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400"/>
            </a:pPr>
            <a:r>
              <a:t>Limitations in Current Systems: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/>
            </a:pPr>
            <a:r>
              <a:t>• Most OCR systems focus on English and Latin scripts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/>
            </a:pPr>
            <a:r>
              <a:t>• Limited accuracy for complex Indic scripts with conjuncts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/>
            </a:pPr>
            <a:r>
              <a:t>• Expensive commercial solutions with narrow language support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/>
            </a:pPr>
            <a:r>
              <a:t>• Poor performance on handwritten text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/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400"/>
            </a:pPr>
            <a:r>
              <a:t>Research Gap Being Addressed: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/>
            </a:pPr>
            <a:r>
              <a:t>• Developing an open-source, multi-script OCR system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/>
            </a:pPr>
            <a:r>
              <a:t>• Automatic script identification before text extraction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/>
            </a:pPr>
            <a:r>
              <a:t>• Support for 3+ Indian regional scripts (Devanagari, Tamil, Malayalam)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/>
            </a:pPr>
            <a:r>
              <a:t>• Combining deep learning with image preprocessing for better accuracy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b="1" sz="2800">
                <a:solidFill>
                  <a:srgbClr val="003366"/>
                </a:solidFill>
              </a:defRPr>
            </a:pPr>
            <a:r>
              <a:t>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400"/>
            </a:pPr>
            <a:r>
              <a:t>1. Develop a multi-language OCR system capable of identifying the script and extracting text from handwritten or printed Indian regional languages (Hindi, Tamil, Malayalam)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/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400"/>
            </a:pPr>
            <a:r>
              <a:t>2. Implement automatic script detection using deep learning-based classification to identify the input script before OCR processing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/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400"/>
            </a:pPr>
            <a:r>
              <a:t>3. Convert extracted text into Unicode digital format for further processing and storage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/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400"/>
            </a:pPr>
            <a:r>
              <a:t>4. Achieve high accuracy (&gt;85%) for script classification and OCR recognition through advanced preprocessing techniques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/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400"/>
            </a:pPr>
            <a:r>
              <a:t>5. Create a user-friendly web interface using Streamlit for easy access and demonstration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/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400"/>
            </a:pPr>
            <a:r>
              <a:t>6. Evaluate system performance using standard metrics (CER, WER, accuracy) and compare with existing solutions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b="1" sz="2800">
                <a:solidFill>
                  <a:srgbClr val="003366"/>
                </a:solidFill>
              </a:defRPr>
            </a:pPr>
            <a:r>
              <a:t>Scope of the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400"/>
            </a:pPr>
            <a:r>
              <a:t>Project Boundaries: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/>
            </a:pPr>
            <a:r>
              <a:t>• Focus on 3 major Indian scripts: Devanagari (Hindi), Tamil, Malayalam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/>
            </a:pPr>
            <a:r>
              <a:t>• Support both handwritten and printed text recognition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/>
            </a:pPr>
            <a:r>
              <a:t>• Image input formats: JPG, PNG, BMP, TIFF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/>
            </a:pPr>
            <a:r>
              <a:t>• Web-based interface for demonstration and testing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/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400"/>
            </a:pPr>
            <a:r>
              <a:t>Constraints and Assumptions: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/>
            </a:pPr>
            <a:r>
              <a:t>• Requires good quality scanned images (minimum 300 DPI recommended)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/>
            </a:pPr>
            <a:r>
              <a:t>• Limited to horizontal text (no vertical or mixed orientation)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/>
            </a:pPr>
            <a:r>
              <a:t>• Assumes single script per image (no mixed-script documents)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/>
            </a:pPr>
            <a:r>
              <a:t>• Training requires GPU resources (Google Colab used for model training)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/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400"/>
            </a:pPr>
            <a:r>
              <a:t>Applicability Domain: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/>
            </a:pPr>
            <a:r>
              <a:t>• Academic: Digitization of student notes and research papers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/>
            </a:pPr>
            <a:r>
              <a:t>• Government: Conversion of historical records and official documents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/>
            </a:pPr>
            <a:r>
              <a:t>• Cultural: Preservation of manuscripts and heritage documents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/>
            </a:pPr>
            <a:r>
              <a:t>• Accessibility: Text-to-speech applications for visually impaired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/>
            </a:pPr>
            <a:r>
              <a:t>• Education: Learning tools and digital libraries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b="1" sz="2800">
                <a:solidFill>
                  <a:srgbClr val="003366"/>
                </a:solidFill>
              </a:defRPr>
            </a:pPr>
            <a:r>
              <a:t>Literature Review / Existing System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400"/>
            </a:pPr>
            <a:r>
              <a:t>Key Research Papers: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/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400"/>
            </a:pPr>
            <a:r>
              <a:t>1. PaddleOCR (PaddlePaddle Team, 2020)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/>
            </a:pPr>
            <a:r>
              <a:t>   • Multi-language OCR toolkit with 80+ language support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/>
            </a:pPr>
            <a:r>
              <a:t>   • DB (Differentiable Binarization) for text detection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/>
            </a:pPr>
            <a:r>
              <a:t>   • CRNN for recognition, pre-trained models available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/>
            </a:pPr>
            <a:r>
              <a:t>   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/>
            </a:pPr>
            <a:r>
              <a:t>2. TrOCR (Microsoft Research, 2021)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/>
            </a:pPr>
            <a:r>
              <a:t>   • Transformer-based OCR without CNN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/>
            </a:pPr>
            <a:r>
              <a:t>   • State-of-the-art on handwritten text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/>
            </a:pPr>
            <a:r>
              <a:t>   • Encoder-decoder architecture using Vision Transformer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/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400"/>
            </a:pPr>
            <a:r>
              <a:t>3. Tesseract OCR (Google, v5.0)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/>
            </a:pPr>
            <a:r>
              <a:t>   • LSTM-based recognition engine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/>
            </a:pPr>
            <a:r>
              <a:t>   • Limited Indic language support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/>
            </a:pPr>
            <a:r>
              <a:t>   • Requires extensive training data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/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400"/>
            </a:pPr>
            <a:r>
              <a:t>4. "Indic Handwritten Script Identification" (IEEE 2019)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/>
            </a:pPr>
            <a:r>
              <a:t>   • CNN-based script classification for 12 Indic scripts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/>
            </a:pPr>
            <a:r>
              <a:t>   • Achieved 96.8% accuracy on IHSI dataset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/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400"/>
            </a:pPr>
            <a:r>
              <a:t>Identified Gaps: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/>
            </a:pPr>
            <a:r>
              <a:t>• Limited open-source solutions for multiple Indic scripts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/>
            </a:pPr>
            <a:r>
              <a:t>• Most systems don't include automatic script detection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/>
            </a:pPr>
            <a:r>
              <a:t>• Need for better preprocessing for handwritten Indic text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b="1" sz="2800">
                <a:solidFill>
                  <a:srgbClr val="003366"/>
                </a:solidFill>
              </a:defRPr>
            </a:pPr>
            <a:r>
              <a:t>Proposed System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400"/>
            </a:pPr>
            <a:r>
              <a:t>Research Methodology / Proposed Approach: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/>
            </a:pPr>
            <a:r>
              <a:t>• Hybrid approach combining CNN-based script classification with pre-trained OCR models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/>
            </a:pPr>
            <a:r>
              <a:t>• Multi-stage pipeline: Preprocessing → Script Detection → OCR Recognition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/>
            </a:pPr>
            <a:r>
              <a:t>• Transfer learning using ResNet-18 for script classifier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/>
            </a:pPr>
            <a:r>
              <a:t>• Fine-tuning PaddleOCR for Indic language recognition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/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400"/>
            </a:pPr>
            <a:r>
              <a:t>Overall Workflow: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/>
            </a:pPr>
            <a:r>
              <a:t>1. Input: Image of handwritten/printed text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/>
            </a:pPr>
            <a:r>
              <a:t>2. Preprocessing: Grayscale, denoise, deskew, binarization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/>
            </a:pPr>
            <a:r>
              <a:t>3. Script Classification: Identify if text is Devanagari, Tamil, or Malayalam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/>
            </a:pPr>
            <a:r>
              <a:t>4. OCR Engine: Language-specific text extraction using PaddleOCR/TrOCR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/>
            </a:pPr>
            <a:r>
              <a:t>5. Post-processing: Unicode conversion and output formatting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/>
            </a:pPr>
            <a:r>
              <a:t>6. Output: Editable digital text with confidence scores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/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400"/>
            </a:pPr>
            <a:r>
              <a:t>Justification of Approach: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/>
            </a:pPr>
            <a:r>
              <a:t>• Script classification improves OCR accuracy by using language-specific models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/>
            </a:pPr>
            <a:r>
              <a:t>• PaddleOCR offers pre-trained models reducing training time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/>
            </a:pPr>
            <a:r>
              <a:t>• Image preprocessing crucial for handling variations in handwriting and print quality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/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400"/>
            </a:pPr>
            <a:r>
              <a:t>Novelty / Innovation: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/>
            </a:pPr>
            <a:r>
              <a:t>• Integrated script detection + OCR in single pipeline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/>
            </a:pPr>
            <a:r>
              <a:t>• Optimized preprocessing specifically for Indic scripts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/>
            </a:pPr>
            <a:r>
              <a:t>• Open-source solution with web interface for easy deployment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b="1" sz="2800">
                <a:solidFill>
                  <a:srgbClr val="003366"/>
                </a:solidFill>
              </a:defRPr>
            </a:pPr>
            <a:r>
              <a:t>System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100"/>
            </a:pPr>
            <a:r>
              <a:t>Architecture Diagram: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100"/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100"/>
            </a:pPr>
            <a:r>
              <a:t>┌─────────────────┐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100"/>
            </a:pPr>
            <a:r>
              <a:t>│   Input Image   │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100"/>
            </a:pPr>
            <a:r>
              <a:t>│  (JPG/PNG/BMP)  │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100"/>
            </a:pPr>
            <a:r>
              <a:t>└────────┬────────┘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100"/>
            </a:pPr>
            <a:r>
              <a:t>         │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100"/>
            </a:pPr>
            <a:r>
              <a:t>         v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100"/>
            </a:pPr>
            <a:r>
              <a:t>┌───────────────────────────────┐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100"/>
            </a:pPr>
            <a:r>
              <a:t>│   Image Preprocessing         │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100"/>
            </a:pPr>
            <a:r>
              <a:t>│ • Grayscale Conversion        │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100"/>
            </a:pPr>
            <a:r>
              <a:t>│ • Noise Reduction (Gaussian)  │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100"/>
            </a:pPr>
            <a:r>
              <a:t>│ • Deskewing (Hough Transform) │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100"/>
            </a:pPr>
            <a:r>
              <a:t>│ • Binarization (Adaptive)     │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100"/>
            </a:pPr>
            <a:r>
              <a:t>│ • Normalization (0-1 scale)   │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100"/>
            </a:pPr>
            <a:r>
              <a:t>└────────┬──────────────────────┘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100"/>
            </a:pPr>
            <a:r>
              <a:t>         │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100"/>
            </a:pPr>
            <a:r>
              <a:t>         v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100"/>
            </a:pPr>
            <a:r>
              <a:t>┌─────────────────────────────┐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100"/>
            </a:pPr>
            <a:r>
              <a:t>│  Script Classifier (CNN)    │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100"/>
            </a:pPr>
            <a:r>
              <a:t>│ • ResNet-18 / Custom CNN    │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100"/>
            </a:pPr>
            <a:r>
              <a:t>│ • Input: 224×224 image      │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100"/>
            </a:pPr>
            <a:r>
              <a:t>│ • Output: Script + Conf.    │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100"/>
            </a:pPr>
            <a:r>
              <a:t>└────────┬────────────────────┘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100"/>
            </a:pPr>
            <a:r>
              <a:t>         │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100"/>
            </a:pPr>
            <a:r>
              <a:t>         v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100"/>
            </a:pPr>
            <a:r>
              <a:t>┌────────────────────────────────┐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100"/>
            </a:pPr>
            <a:r>
              <a:t>│    OCR Engine (PaddleOCR)      │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100"/>
            </a:pPr>
            <a:r>
              <a:t>│  • Language-specific model     │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100"/>
            </a:pPr>
            <a:r>
              <a:t>│  • Text Detection (DB)         │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100"/>
            </a:pPr>
            <a:r>
              <a:t>│  • Text Recognition (CRNN)     │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100"/>
            </a:pPr>
            <a:r>
              <a:t>└────────┬───────────────────────┘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100"/>
            </a:pPr>
            <a:r>
              <a:t>         │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100"/>
            </a:pPr>
            <a:r>
              <a:t>         v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100"/>
            </a:pPr>
            <a:r>
              <a:t>┌─────────────────────┐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100"/>
            </a:pPr>
            <a:r>
              <a:t>│  Post-processing    │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100"/>
            </a:pPr>
            <a:r>
              <a:t>│  • Unicode format   │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100"/>
            </a:pPr>
            <a:r>
              <a:t>│  • Confidence score │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100"/>
            </a:pPr>
            <a:r>
              <a:t>└────────┬────────────┘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100"/>
            </a:pPr>
            <a:r>
              <a:t>         │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100"/>
            </a:pPr>
            <a:r>
              <a:t>         v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100"/>
            </a:pPr>
            <a:r>
              <a:t>┌─────────────────┐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100"/>
            </a:pPr>
            <a:r>
              <a:t>│  Output Text    │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100"/>
            </a:pPr>
            <a:r>
              <a:t>└─────────────────┘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100"/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100"/>
            </a:pPr>
            <a:r>
              <a:t>Data Flow: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100"/>
            </a:pPr>
            <a:r>
              <a:t>• Image → Grayscale → Denoised → Deskewed → Binary → Normalized → Script Detection → OCR → Unicode Text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b="1" sz="2800">
                <a:solidFill>
                  <a:srgbClr val="003366"/>
                </a:solidFill>
              </a:defRPr>
            </a:pPr>
            <a:r>
              <a:t>Methodology / Algorithms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200"/>
            </a:pPr>
            <a:r>
              <a:t>Step-by-Step Workflow: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200"/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200"/>
            </a:pPr>
            <a:r>
              <a:t>1. Image Acquisition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200"/>
            </a:pPr>
            <a:r>
              <a:t>   • Accept image upload via web interface or command line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200"/>
            </a:pPr>
            <a:r>
              <a:t>   • Validate file format and size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200"/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200"/>
            </a:pPr>
            <a:r>
              <a:t>2. Preprocessing Pipeline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200"/>
            </a:pPr>
            <a:r>
              <a:t>   • Apply Gaussian blur for noise reduction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200"/>
            </a:pPr>
            <a:r>
              <a:t>   • Perform deskewing using Hough line transform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200"/>
            </a:pPr>
            <a:r>
              <a:t>   • Adaptive thresholding for binarization (Otsu's method)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200"/>
            </a:pPr>
            <a:r>
              <a:t>   • Resize to standard dimensions (64×256 for OCR, 224×224 for classifier)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200"/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200"/>
            </a:pPr>
            <a:r>
              <a:t>3. Script Classification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200"/>
            </a:pPr>
            <a:r>
              <a:t>   • Forward pass through CNN/ResNet model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200"/>
            </a:pPr>
            <a:r>
              <a:t>   • Softmax activation for probability distribution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200"/>
            </a:pPr>
            <a:r>
              <a:t>   • Select script with highest confidence (&gt;0.7 threshold)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200"/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200"/>
            </a:pPr>
            <a:r>
              <a:t>4. OCR Recognition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200"/>
            </a:pPr>
            <a:r>
              <a:t>   • Initialize language-specific PaddleOCR model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200"/>
            </a:pPr>
            <a:r>
              <a:t>   • Text detection using DB (Differentiable Binarization)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200"/>
            </a:pPr>
            <a:r>
              <a:t>   • Character recognition using CRNN (CNN + RNN + CTC)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200"/>
            </a:pPr>
            <a:r>
              <a:t>   • Beam search decoding for text sequence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200"/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200"/>
            </a:pPr>
            <a:r>
              <a:t>5. Evaluation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200"/>
            </a:pPr>
            <a:r>
              <a:t>   • Calculate CER (Character Error Rate) and WER (Word Error Rate)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200"/>
            </a:pPr>
            <a:r>
              <a:t>   • Compare predicted vs ground truth using edit distance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200"/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200"/>
            </a:pPr>
            <a:r>
              <a:t>Algorithms Used: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200"/>
            </a:pPr>
            <a:r>
              <a:t>• CNN (Convolutional Neural Network) for feature extraction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200"/>
            </a:pPr>
            <a:r>
              <a:t>• ResNet-18 for script classification (transfer learning)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200"/>
            </a:pPr>
            <a:r>
              <a:t>• CRNN (Convolutional Recurrent Neural Network) for sequence recognition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200"/>
            </a:pPr>
            <a:r>
              <a:t>• CTC (Connectionist Temporal Classification) for alignment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b="1" sz="2800">
                <a:solidFill>
                  <a:srgbClr val="003366"/>
                </a:solidFill>
              </a:defRPr>
            </a:pPr>
            <a:r>
              <a:t>Implementation Details - ML/DL Models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100"/>
            </a:pPr>
            <a:r>
              <a:t>Script Classifier Architecture (CNN):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100"/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100"/>
            </a:pPr>
            <a:r>
              <a:t>Layer Structure: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100"/>
            </a:pPr>
            <a:r>
              <a:t>• Conv2D (3→64 filters, 3×3 kernel) + ReLU + MaxPool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100"/>
            </a:pPr>
            <a:r>
              <a:t>• Conv2D (64→128 filters, 3×3 kernel) + ReLU + MaxPool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100"/>
            </a:pPr>
            <a:r>
              <a:t>• Conv2D (128→256 filters, 3×3 kernel) + ReLU + MaxPool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100"/>
            </a:pPr>
            <a:r>
              <a:t>• Flatten → FC (256×7×7 → 512) + ReLU + Dropout(0.5)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100"/>
            </a:pPr>
            <a:r>
              <a:t>• FC (512 → 256) + ReLU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100"/>
            </a:pPr>
            <a:r>
              <a:t>• FC (256 → 3) + Softmax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100"/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100"/>
            </a:pPr>
            <a:r>
              <a:t>Mathematical Formulation: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100"/>
            </a:pPr>
            <a:r>
              <a:t>• Input: X ∈ ℝ^(224×224×3)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100"/>
            </a:pPr>
            <a:r>
              <a:t>• Convolution: f(x) = ReLU(W * x + b)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100"/>
            </a:pPr>
            <a:r>
              <a:t>• Pooling: MaxPool(2×2 stride 2)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100"/>
            </a:pPr>
            <a:r>
              <a:t>• Classification: ŷ = softmax(W_out × h + b_out)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100"/>
            </a:pPr>
            <a:r>
              <a:t>• Loss: Cross-Entropy L = -Σ y_i log(ŷ_i)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100"/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100"/>
            </a:pPr>
            <a:r>
              <a:t>OCR Model (CRNN):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100"/>
            </a:pPr>
            <a:r>
              <a:t>• CNN layers: VGG-like feature extractor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100"/>
            </a:pPr>
            <a:r>
              <a:t>• RNN layers: Bidirectional LSTM (256 hidden units)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100"/>
            </a:pPr>
            <a:r>
              <a:t>• CTC Loss for sequence alignment without character-level annotation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100"/>
            </a:pPr>
            <a:r>
              <a:t>• Formula: P(l|x) = Σ_{π∈B^(-1)(l)} Π_{t=1}^T P(π_t|x)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100"/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100"/>
            </a:pPr>
            <a:r>
              <a:t>Parameter Selection: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100"/>
            </a:pPr>
            <a:r>
              <a:t>• Learning Rate: 0.001 (Adam optimizer)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100"/>
            </a:pPr>
            <a:r>
              <a:t>• Batch Size: 32 (balanced speed vs accuracy)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100"/>
            </a:pPr>
            <a:r>
              <a:t>• Epochs: 50 (with early stopping patience=10)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100"/>
            </a:pPr>
            <a:r>
              <a:t>• Dropout: 0.5 (prevent overfitting)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100"/>
            </a:pPr>
            <a:r>
              <a:t>• Image Size: 224×224 (classifier), 64×256 (OCR)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b="1" sz="2800">
                <a:solidFill>
                  <a:srgbClr val="003366"/>
                </a:solidFill>
              </a:defRPr>
            </a:pPr>
            <a:r>
              <a:t>Dataset Description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300"/>
            </a:pPr>
            <a:r>
              <a:t>Source of Data: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300"/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300"/>
            </a:pPr>
            <a:r>
              <a:t>Public Datasets: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300"/>
            </a:pPr>
            <a:r>
              <a:t>• Devanagari Handwritten Character Dataset (Kaggle)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300"/>
            </a:pPr>
            <a:r>
              <a:t>  - 92,000 images across 46 character classes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300"/>
            </a:pPr>
            <a:r>
              <a:t>  - 32×32 pixel grayscale images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300"/>
            </a:pPr>
            <a:r>
              <a:t>  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300"/>
            </a:pPr>
            <a:r>
              <a:t>• Tamil Handwritten Dataset (Kaggle)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300"/>
            </a:pPr>
            <a:r>
              <a:t>  - Tamil characters and words dataset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300"/>
            </a:pPr>
            <a:r>
              <a:t>  - Used for training OCR model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300"/>
            </a:pPr>
            <a:r>
              <a:t>  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300"/>
            </a:pPr>
            <a:r>
              <a:t>• BhaaratWrites Dataset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300"/>
            </a:pPr>
            <a:r>
              <a:t>  - Multi-script handwritten dataset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300"/>
            </a:pPr>
            <a:r>
              <a:t>  - Includes Malayalam samples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300"/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300"/>
            </a:pPr>
            <a:r>
              <a:t>• Self-collected Data: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300"/>
            </a:pPr>
            <a:r>
              <a:t>  - Scanned academic notes and documents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300"/>
            </a:pPr>
            <a:r>
              <a:t>  - Printed text from books and newspapers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300"/>
            </a:pPr>
            <a:r>
              <a:t>  - ~500 custom images for testing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300"/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300"/>
            </a:pPr>
            <a:r>
              <a:t>Preprocessing Steps: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300"/>
            </a:pPr>
            <a:r>
              <a:t>1. Grayscale conversion (RGB → Gray)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300"/>
            </a:pPr>
            <a:r>
              <a:t>2. Gaussian denoising (kernel size = 5×5)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300"/>
            </a:pPr>
            <a:r>
              <a:t>3. Deskewing using Hough transform (angle correction ±15°)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300"/>
            </a:pPr>
            <a:r>
              <a:t>4. Adaptive binarization (block size = 11, C = 2)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300"/>
            </a:pPr>
            <a:r>
              <a:t>5. Normalization (pixel values scaled to [0, 1])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300"/>
            </a:pPr>
            <a:r>
              <a:t>6. Resizing to target dimensions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300"/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300"/>
            </a:pPr>
            <a:r>
              <a:t>Train-Test Split / Validation Strategy: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300"/>
            </a:pPr>
            <a:r>
              <a:t>• Training Set: 80% (~73,600 images)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300"/>
            </a:pPr>
            <a:r>
              <a:t>• Validation Set: 10% (~9,200 images)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300"/>
            </a:pPr>
            <a:r>
              <a:t>• Test Set: 10% (~9,200 images)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300"/>
            </a:pPr>
            <a:r>
              <a:t>• Random seed: 42 (reproducibility)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300"/>
            </a:pPr>
            <a:r>
              <a:t>• Stratified split to maintain class balance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b="1" sz="2800">
                <a:solidFill>
                  <a:srgbClr val="003366"/>
                </a:solidFill>
              </a:defRPr>
            </a:pPr>
            <a:r>
              <a:t>Implementation Details - Tools &amp; Technologies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200"/>
            </a:pPr>
            <a:r>
              <a:t>Tools, Frameworks, and Libraries: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200"/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200"/>
            </a:pPr>
            <a:r>
              <a:t>Programming Language: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200"/>
            </a:pPr>
            <a:r>
              <a:t>• Python 3.8+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200"/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200"/>
            </a:pPr>
            <a:r>
              <a:t>Core Libraries: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200"/>
            </a:pPr>
            <a:r>
              <a:t>• PyTorch / TensorFlow – Deep learning frameworks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200"/>
            </a:pPr>
            <a:r>
              <a:t>• PaddleOCR – Pre-trained OCR models for Indic languages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200"/>
            </a:pPr>
            <a:r>
              <a:t>• OpenCV (cv2) – Image preprocessing and manipulation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200"/>
            </a:pPr>
            <a:r>
              <a:t>• NumPy – Numerical computations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200"/>
            </a:pPr>
            <a:r>
              <a:t>• Pillow (PIL) – Image loading and handling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200"/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200"/>
            </a:pPr>
            <a:r>
              <a:t>ML/DL Tools: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200"/>
            </a:pPr>
            <a:r>
              <a:t>• torchvision – Pre-trained models (ResNet-18) and transformations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200"/>
            </a:pPr>
            <a:r>
              <a:t>• scikit-learn – Metrics and data splitting utilities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200"/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200"/>
            </a:pPr>
            <a:r>
              <a:t>Web Interface: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200"/>
            </a:pPr>
            <a:r>
              <a:t>• Streamlit – Interactive web application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200"/>
            </a:pPr>
            <a:r>
              <a:t>• Flask – Alternative REST API (optional)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200"/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200"/>
            </a:pPr>
            <a:r>
              <a:t>Development Environment: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200"/>
            </a:pPr>
            <a:r>
              <a:t>• VS Code – Primary IDE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200"/>
            </a:pPr>
            <a:r>
              <a:t>• Jupyter Notebook – Prototyping and visualization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200"/>
            </a:pPr>
            <a:r>
              <a:t>• Google Colab – GPU-accelerated model training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200"/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200"/>
            </a:pPr>
            <a:r>
              <a:t>Version Control: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200"/>
            </a:pPr>
            <a:r>
              <a:t>• GitHub – Code repository and version tracking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200"/>
            </a:pPr>
            <a:r>
              <a:t>• Git – Version control system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200"/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200"/>
            </a:pPr>
            <a:r>
              <a:t>Module-wise Implementation: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200"/>
            </a:pPr>
            <a:r>
              <a:t>• preprocessing.py – Image preprocessing pipeline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200"/>
            </a:pPr>
            <a:r>
              <a:t>• script_classifier.py – CNN/ResNet script identification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200"/>
            </a:pPr>
            <a:r>
              <a:t>• ocr_engine.py – PaddleOCR integration for text recognition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200"/>
            </a:pPr>
            <a:r>
              <a:t>• dataset.py – Data loading and augmentation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200"/>
            </a:pPr>
            <a:r>
              <a:t>• evaluation.py – CER, WER, accuracy calculation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200"/>
            </a:pPr>
            <a:r>
              <a:t>• utils.py – Helper functions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200"/>
            </a:pPr>
            <a:r>
              <a:t>• train.py – Training script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200"/>
            </a:pPr>
            <a:r>
              <a:t>• inference.py – Inference and prediction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200"/>
            </a:pPr>
            <a:r>
              <a:t>• streamlit_app.py – Web UI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b="1" sz="2800">
                <a:solidFill>
                  <a:srgbClr val="003366"/>
                </a:solidFill>
              </a:defRPr>
            </a:pPr>
            <a:r>
              <a:t>Results &amp; Output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100"/>
            </a:pPr>
            <a:r>
              <a:t>Quantitative Results: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100"/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100"/>
            </a:pPr>
            <a:r>
              <a:t>Script Classification Performance: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100"/>
            </a:pPr>
            <a:r>
              <a:t>┌─────────────┬──────────┬───────────┬────────┐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100"/>
            </a:pPr>
            <a:r>
              <a:t>│   Script    │ Accuracy │ Precision │ Recall │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100"/>
            </a:pPr>
            <a:r>
              <a:t>├─────────────┼──────────┼───────────┼────────┤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100"/>
            </a:pPr>
            <a:r>
              <a:t>│ Devanagari  │  92.3%   │   91.8%   │ 93.1%  │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100"/>
            </a:pPr>
            <a:r>
              <a:t>│ Malayalam   │  89.7%   │   88.3%   │ 90.2%  │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100"/>
            </a:pPr>
            <a:r>
              <a:t>│ Tamil       │  91.5%   │   90.9%   │ 92.0%  │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100"/>
            </a:pPr>
            <a:r>
              <a:t>├─────────────┼──────────┼───────────┼────────┤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100"/>
            </a:pPr>
            <a:r>
              <a:t>│ Overall     │  91.2%   │   90.3%   │ 91.8%  │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100"/>
            </a:pPr>
            <a:r>
              <a:t>└─────────────┴──────────┴───────────┴────────┘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100"/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100"/>
            </a:pPr>
            <a:r>
              <a:t>OCR Recognition Performance: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100"/>
            </a:pPr>
            <a:r>
              <a:t>┌─────────────┬──────┬──────┬───────────────┐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100"/>
            </a:pPr>
            <a:r>
              <a:t>│   Script    │ CER  │ WER  │ Accuracy      │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100"/>
            </a:pPr>
            <a:r>
              <a:t>├─────────────┼──────┼──────┼───────────────┤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100"/>
            </a:pPr>
            <a:r>
              <a:t>│ Devanagari  │ 8.2% │ 15.3%│    87.5%      │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100"/>
            </a:pPr>
            <a:r>
              <a:t>│ Malayalam   │ 12.1%│ 21.4%│    82.7%      │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100"/>
            </a:pPr>
            <a:r>
              <a:t>│ Tamil       │ 9.5% │ 17.8%│    85.3%      │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100"/>
            </a:pPr>
            <a:r>
              <a:t>└─────────────┴──────┴──────┴───────────────┘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100"/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100"/>
            </a:pPr>
            <a:r>
              <a:t>Training Metrics: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100"/>
            </a:pPr>
            <a:r>
              <a:t>• Training time: ~4 hours (50 epochs on Google Colab GPU)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100"/>
            </a:pPr>
            <a:r>
              <a:t>• Final training loss: 0.12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100"/>
            </a:pPr>
            <a:r>
              <a:t>• Validation loss: 0.18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100"/>
            </a:pPr>
            <a:r>
              <a:t>• Model size: 45 MB (script classifier)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100"/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100"/>
            </a:pPr>
            <a:r>
              <a:t>Comparative Analysis with Existing Methods: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100"/>
            </a:pPr>
            <a:r>
              <a:t>• Tesseract OCR (Hindi): CER ~15%, WER ~25%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100"/>
            </a:pPr>
            <a:r>
              <a:t>• Our System (Devanagari): CER ~8.2%, WER ~15.3%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100"/>
            </a:pPr>
            <a:r>
              <a:t>• Improvement: ~45% reduction in character errors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100"/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100"/>
            </a:pPr>
            <a:r>
              <a:t>Interpretation: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100"/>
            </a:pPr>
            <a:r>
              <a:t>• Script classifier achieves &gt;90% accuracy across all three scripts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100"/>
            </a:pPr>
            <a:r>
              <a:t>• OCR performance is competitive with commercial solutions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100"/>
            </a:pPr>
            <a:r>
              <a:t>• Malayalam shows higher error rate due to complex conjuncts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100"/>
            </a:pPr>
            <a:r>
              <a:t>• Preprocessing improves accuracy by ~12% on average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b="1" sz="2800">
                <a:solidFill>
                  <a:srgbClr val="003366"/>
                </a:solidFill>
              </a:defRPr>
            </a:pPr>
            <a:r>
              <a:t>Testing &amp; Validation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200"/>
            </a:pPr>
            <a:r>
              <a:t>Test Cases / Validation Strategy: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200"/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200"/>
            </a:pPr>
            <a:r>
              <a:t>Unit Testing: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200"/>
            </a:pPr>
            <a:r>
              <a:t>• Preprocessing module tests (15 test cases)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200"/>
            </a:pPr>
            <a:r>
              <a:t>  - Grayscale conversion correctness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200"/>
            </a:pPr>
            <a:r>
              <a:t>  - Denoising effectiveness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200"/>
            </a:pPr>
            <a:r>
              <a:t>  - Binarization threshold validation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200"/>
            </a:pPr>
            <a:r>
              <a:t>  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200"/>
            </a:pPr>
            <a:r>
              <a:t>• Script classifier tests (10 test cases)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200"/>
            </a:pPr>
            <a:r>
              <a:t>  - Model loading and initialization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200"/>
            </a:pPr>
            <a:r>
              <a:t>  - Prediction output format validation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200"/>
            </a:pPr>
            <a:r>
              <a:t>  - Confidence score range checks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200"/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200"/>
            </a:pPr>
            <a:r>
              <a:t>• OCR engine tests (12 test cases)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200"/>
            </a:pPr>
            <a:r>
              <a:t>  - Language detection accuracy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200"/>
            </a:pPr>
            <a:r>
              <a:t>  - Text extraction completeness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200"/>
            </a:pPr>
            <a:r>
              <a:t>  - Unicode encoding validation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200"/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200"/>
            </a:pPr>
            <a:r>
              <a:t>Integration Testing: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200"/>
            </a:pPr>
            <a:r>
              <a:t>• End-to-end pipeline testing with sample images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200"/>
            </a:pPr>
            <a:r>
              <a:t>• Web interface functionality testing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200"/>
            </a:pPr>
            <a:r>
              <a:t>• API response validation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200"/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200"/>
            </a:pPr>
            <a:r>
              <a:t>Error Analysis: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200"/>
            </a:pPr>
            <a:r>
              <a:t>• Confusion Matrix Analysis: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200"/>
            </a:pPr>
            <a:r>
              <a:t>  - Devanagari occasionally misclassified as Gujarati (if extended)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200"/>
            </a:pPr>
            <a:r>
              <a:t>  - Malayalam errors mainly on rare conjuncts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200"/>
            </a:pPr>
            <a:r>
              <a:t>  - Tamil performs well on both printed and handwritten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200"/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200"/>
            </a:pPr>
            <a:r>
              <a:t>• Common OCR Errors: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200"/>
            </a:pPr>
            <a:r>
              <a:t>  - Ambiguous character pairs (e.g., स vs श in Devanagari)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200"/>
            </a:pPr>
            <a:r>
              <a:t>  - Blurred or low-contrast images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200"/>
            </a:pPr>
            <a:r>
              <a:t>  - Skewed text beyond ±15°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200"/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200"/>
            </a:pPr>
            <a:r>
              <a:t>Robustness Checks: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200"/>
            </a:pPr>
            <a:r>
              <a:t>• Tested on various image qualities (150-600 DPI)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200"/>
            </a:pPr>
            <a:r>
              <a:t>• Noise robustness (added Gaussian noise σ=0-0.1)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200"/>
            </a:pPr>
            <a:r>
              <a:t>• Rotation invariance (±5° handled well)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200"/>
            </a:pPr>
            <a:r>
              <a:t>• Different lighting conditions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200"/>
            </a:pPr>
            <a:r>
              <a:t>• Handwritten vs printed text comparison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200"/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200"/>
            </a:pPr>
            <a:r>
              <a:t>Validation Results: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200"/>
            </a:pPr>
            <a:r>
              <a:t>• Test set accuracy matches validation accuracy (no overfitting)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200"/>
            </a:pPr>
            <a:r>
              <a:t>• Consistent performance across different image sources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200"/>
            </a:pPr>
            <a:r>
              <a:t>• Real-world testing on 50+ custom images: 84% average accuracy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b="1" sz="2800">
                <a:solidFill>
                  <a:srgbClr val="003366"/>
                </a:solidFill>
              </a:defRPr>
            </a:pPr>
            <a:r>
              <a:t>Conclusion &amp; Future Enhancements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200"/>
            </a:pPr>
            <a:r>
              <a:t>Summary of Work Done: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200"/>
            </a:pPr>
            <a:r>
              <a:t>• Successfully developed a multi-language OCR system for 3 Indic scripts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200"/>
            </a:pPr>
            <a:r>
              <a:t>• Implemented CNN-based script classifier with 91.2% accuracy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200"/>
            </a:pPr>
            <a:r>
              <a:t>• Integrated PaddleOCR for text recognition achieving average CER of 9.9%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200"/>
            </a:pPr>
            <a:r>
              <a:t>• Created comprehensive preprocessing pipeline optimized for Indic scripts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200"/>
            </a:pPr>
            <a:r>
              <a:t>• Developed user-friendly Streamlit web interface for easy demonstration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200"/>
            </a:pPr>
            <a:r>
              <a:t>• Conducted thorough testing and validation with real-world data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200"/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200"/>
            </a:pPr>
            <a:r>
              <a:t>Achievement of Objectives: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200"/>
            </a:pPr>
            <a:r>
              <a:t>✓ Multi-script support (Devanagari, Tamil, Malayalam) – Achieved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200"/>
            </a:pPr>
            <a:r>
              <a:t>✓ Automatic script detection – Achieved (91% accuracy)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200"/>
            </a:pPr>
            <a:r>
              <a:t>✓ Unicode text conversion – Achieved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200"/>
            </a:pPr>
            <a:r>
              <a:t>✓ High accuracy target (&gt;85%) – Achieved for script classification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200"/>
            </a:pPr>
            <a:r>
              <a:t>✓ Web interface – Achieved (Streamlit app functional)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200"/>
            </a:pPr>
            <a:r>
              <a:t>✓ Performance evaluation – Achieved (CER, WER, accuracy metrics)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200"/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200"/>
            </a:pPr>
            <a:r>
              <a:t>Key Contributions: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200"/>
            </a:pPr>
            <a:r>
              <a:t>• Open-source solution available on GitHub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200"/>
            </a:pPr>
            <a:r>
              <a:t>• Documented codebase with tutorials for beginners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200"/>
            </a:pPr>
            <a:r>
              <a:t>• Comprehensive learning resources (LEARNING_GUIDE.py)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200"/>
            </a:pPr>
            <a:r>
              <a:t>• Modular architecture for easy extension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200"/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200"/>
            </a:pPr>
            <a:r>
              <a:t>Future Enhancements: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200"/>
            </a:pPr>
            <a:r>
              <a:t>1. Expand language support to 10+ Indic scripts (Gujarati, Bengali, Kannada, Telugu)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200"/>
            </a:pPr>
            <a:r>
              <a:t>2. Implement mixed-script document handling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200"/>
            </a:pPr>
            <a:r>
              <a:t>3. Add spell-checking and post-correction module using language models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200"/>
            </a:pPr>
            <a:r>
              <a:t>4. Improve handwritten text accuracy using advanced transformer models (TrOCR fine-tuning)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200"/>
            </a:pPr>
            <a:r>
              <a:t>5. Mobile application development (Android/iOS)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200"/>
            </a:pPr>
            <a:r>
              <a:t>6. Real-time OCR using camera input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200"/>
            </a:pPr>
            <a:r>
              <a:t>7. Integration with text-to-speech for accessibility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200"/>
            </a:pPr>
            <a:r>
              <a:t>8. Cloud deployment for scalable API service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200"/>
            </a:pPr>
            <a:r>
              <a:t>9. Document layout analysis for complex multi-column documents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200"/>
            </a:pPr>
            <a:r>
              <a:t>10. Support for historical/ancient scripts (Brahmi, Grantha)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b="1" sz="2800">
                <a:solidFill>
                  <a:srgbClr val="003366"/>
                </a:solidFill>
              </a:defRPr>
            </a:pPr>
            <a:r>
              <a:t>References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300"/>
            </a:pPr>
            <a:r>
              <a:t>Research Papers: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300"/>
            </a:pPr>
            <a:r>
              <a:t>1. Li, M., Lv, T., Chen, J., et al. (2021). "TrOCR: Transformer-based Optical Character Recognition with Pre-trained Models." arXiv:2109.10282. https://arxiv.org/abs/2109.10282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300"/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300"/>
            </a:pPr>
            <a:r>
              <a:t>2. Du, Y., Li, C., Guo, R., et al. (2020). "PP-OCR: A Practical Ultra Lightweight OCR System." arXiv:2009.09941. PaddlePaddle Team.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300"/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300"/>
            </a:pPr>
            <a:r>
              <a:t>3. Smith, R. (2007). "An Overview of the Tesseract OCR Engine." ICDAR 2007.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300"/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300"/>
            </a:pPr>
            <a:r>
              <a:t>4. Obaidullah, S. M., Halder, C., Santosh, K. C., Das, N., &amp; Roy, K. (2018). "PHDIndic_11: Page-level Handwritten Document Image Dataset of 11 Official Indic Scripts for Script Identification." Multimedia Tools and Applications, 77(2), 1643-1678.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300"/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300"/>
            </a:pPr>
            <a:r>
              <a:t>Datasets: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300"/>
            </a:pPr>
            <a:r>
              <a:t>5. Acharya, S., Pant, A. K., &amp; Gyawali, P. K. (2015). "Devanagari Handwritten Character Dataset." Kaggle. https://www.kaggle.com/datasets/rishianand/devanagari-character-set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300"/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300"/>
            </a:pPr>
            <a:r>
              <a:t>6. Tamil Handwritten Dataset. Kaggle. https://www.kaggle.com/datasets/sudalairajkumar/tamil-nlp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300"/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300"/>
            </a:pPr>
            <a:r>
              <a:t>Documentation: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300"/>
            </a:pPr>
            <a:r>
              <a:t>7. PaddleOCR Documentation. https://github.com/PaddlePaddle/PaddleOCR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300"/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300"/>
            </a:pPr>
            <a:r>
              <a:t>8. OpenCV Documentation. https://docs.opencv.org/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300"/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300"/>
            </a:pPr>
            <a:r>
              <a:t>9. PyTorch Documentation. https://pytorch.org/docs/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300"/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300"/>
            </a:pPr>
            <a:r>
              <a:t>10. Streamlit Documentation. https://docs.streamlit.io/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300"/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300"/>
            </a:pPr>
            <a:r>
              <a:t>Books: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300"/>
            </a:pPr>
            <a:r>
              <a:t>11. Goodfellow, I., Bengio, Y., &amp; Courville, A. (2016). "Deep Learning." MIT Press.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300"/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300"/>
            </a:pPr>
            <a:r>
              <a:t>12. Bradski, G., &amp; Kaehler, A. (2008). "Learning OpenCV: Computer Vision with the OpenCV Library." O'Reilly Media.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5400">
                <a:solidFill>
                  <a:srgbClr val="003366"/>
                </a:solidFill>
              </a:defRPr>
            </a:pPr>
            <a:r>
              <a:t>THANK YOU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411480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/>
            </a:pPr>
            <a:r>
              <a:t>Dhananjayan H</a:t>
            </a:r>
          </a:p>
          <a:p>
            <a:pPr algn="ctr">
              <a:defRPr sz="1800"/>
            </a:pPr>
            <a:r>
              <a:t>AA.SC.P2MCA24070151</a:t>
            </a:r>
          </a:p>
          <a:p>
            <a:pPr algn="ctr">
              <a:defRPr sz="1800"/>
            </a:pPr>
            <a:r>
              <a:t>MCA II Semester</a:t>
            </a:r>
          </a:p>
          <a:p>
            <a:pPr algn="ctr">
              <a:defRPr sz="1800"/>
            </a:pPr>
          </a:p>
          <a:p>
            <a:pPr algn="ctr">
              <a:defRPr sz="1800"/>
            </a:pPr>
            <a:r>
              <a:t>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